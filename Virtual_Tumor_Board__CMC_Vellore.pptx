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VIRTUAL TUMOR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800" b="1" i="0">
                <a:solidFill>
                  <a:srgbClr val="1A2332"/>
                </a:solidFill>
                <a:latin typeface="Calibri"/>
              </a:rPr>
              <a:t>An AI co-pilot for multidisciplinary cancer deliberation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0" i="1">
                <a:solidFill>
                  <a:srgbClr val="6B7785"/>
                </a:solidFill>
                <a:latin typeface="Calibri"/>
              </a:rPr>
              <a:t>Seven AI specialists debate every case, three meta-reviewers push back, one moderator synthesises a structured recommendation.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5074920"/>
            <a:ext cx="7315200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Presented to the Department of Oncology, CMC Vellore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2B6CB0"/>
                </a:solidFill>
                <a:latin typeface="Calibri"/>
              </a:rPr>
              <a:t>Live demo:  virtual-tumor-board-production.up.railway.app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An ambiguous MRI line decided whether one patient's cancer was curable.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63040"/>
            <a:ext cx="6400800" cy="45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" cy="4572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9436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THE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943600" cy="24929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en-US" sz="1350" b="0" i="0">
                <a:solidFill>
                  <a:srgbClr val="1A2332"/>
                </a:solidFill>
                <a:latin typeface="Calibri"/>
              </a:rPr>
              <a:t>My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</a:t>
            </a:r>
            <a:r>
              <a:rPr sz="1350" b="0" i="0" dirty="0">
                <a:solidFill>
                  <a:srgbClr val="1A2332"/>
                </a:solidFill>
                <a:latin typeface="Calibri"/>
              </a:rPr>
              <a:t>aunt was diagnosed with cancer. Her MRI showed a vertebral lesion. The radiology report read:</a:t>
            </a:r>
          </a:p>
          <a:p>
            <a:pPr algn="l">
              <a:spcAft>
                <a:spcPts val="1000"/>
              </a:spcAft>
            </a:pPr>
            <a:r>
              <a:rPr sz="1400" b="0" i="1" dirty="0">
                <a:solidFill>
                  <a:srgbClr val="1A2332"/>
                </a:solidFill>
                <a:latin typeface="Calibri"/>
              </a:rPr>
              <a:t>“sclerotic change, possibly age-related, cannot rule out metastatic disease.”</a:t>
            </a:r>
          </a:p>
          <a:p>
            <a:pPr algn="l">
              <a:spcAft>
                <a:spcPts val="1400"/>
              </a:spcAft>
            </a:pPr>
            <a:r>
              <a:rPr sz="1350" b="0" i="0" dirty="0">
                <a:solidFill>
                  <a:srgbClr val="1A2332"/>
                </a:solidFill>
                <a:latin typeface="Calibri"/>
              </a:rPr>
              <a:t>That single line decided whether her case was Stage II (curable) or Stage IV (incurable).</a:t>
            </a:r>
          </a:p>
          <a:p>
            <a:pPr algn="l">
              <a:spcAft>
                <a:spcPts val="1000"/>
              </a:spcAft>
            </a:pPr>
            <a:r>
              <a:rPr sz="1350" b="0" i="0" dirty="0">
                <a:solidFill>
                  <a:srgbClr val="1A2332"/>
                </a:solidFill>
                <a:latin typeface="Calibri"/>
              </a:rPr>
              <a:t>Through family connections, </a:t>
            </a:r>
            <a:r>
              <a:rPr sz="1350" b="1" i="0" dirty="0">
                <a:solidFill>
                  <a:srgbClr val="1A2332"/>
                </a:solidFill>
                <a:latin typeface="Calibri"/>
              </a:rPr>
              <a:t>we got her case reviewed by top specialists.</a:t>
            </a:r>
            <a:r>
              <a:rPr sz="1350" b="0" i="0" dirty="0">
                <a:solidFill>
                  <a:srgbClr val="1A2332"/>
                </a:solidFill>
                <a:latin typeface="Calibri"/>
              </a:rPr>
              <a:t> They concluded it was benign. She received curative treatment.</a:t>
            </a:r>
          </a:p>
          <a:p>
            <a:pPr algn="l"/>
            <a:r>
              <a:rPr sz="1350" b="1" i="0" dirty="0">
                <a:solidFill>
                  <a:srgbClr val="C53030"/>
                </a:solidFill>
                <a:latin typeface="Calibri"/>
              </a:rPr>
              <a:t>Most patients aren't that lucky.</a:t>
            </a:r>
            <a:r>
              <a:rPr sz="1350" b="0" i="0" dirty="0">
                <a:solidFill>
                  <a:srgbClr val="1A2332"/>
                </a:solidFill>
                <a:latin typeface="Calibri"/>
              </a:rPr>
              <a:t> They don't have connections. They can't travel to metros. They can't afford multiple specialist consultations.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463040"/>
            <a:ext cx="4327855" cy="4572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463040"/>
            <a:ext cx="91440" cy="457200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645920"/>
            <a:ext cx="3870655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C53030"/>
                </a:solidFill>
                <a:latin typeface="Calibri"/>
              </a:rP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03120"/>
            <a:ext cx="3870655" cy="3794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C53030"/>
                </a:solidFill>
                <a:latin typeface="Calibri"/>
              </a:rPr>
              <a:t>&lt; 5%</a:t>
            </a:r>
          </a:p>
          <a:p>
            <a:pPr algn="l">
              <a:spcAft>
                <a:spcPts val="140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of cancer patients in India receive multidisciplinary expert review — the gold standard for optimal outcomes.</a:t>
            </a:r>
          </a:p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1.4 M</a:t>
            </a:r>
          </a:p>
          <a:p>
            <a:pPr algn="l">
              <a:spcAft>
                <a:spcPts val="140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new cancer cases annually.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2332"/>
                </a:solidFill>
                <a:latin typeface="Calibri"/>
              </a:rPr>
              <a:t>4× fewer</a:t>
            </a:r>
          </a:p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oncologists per capita than the United States — concentrated in metros; tier-2/3 cities face delayed and suboptimal care.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1">
                <a:solidFill>
                  <a:srgbClr val="2B6CB0"/>
                </a:solidFill>
                <a:latin typeface="Calibri"/>
              </a:rPr>
              <a:t>VTB exists so the next patient like her doesn't need a connection to get a second opinion.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Source: inventcures.github.io/ai-powered-virtual-mtb  ·  Founder: Ashish (tp53)  ·  Stage: working prototype, not yet approved for clinical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Tumor boards work — but they don't scale to every case, every week.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1094415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A2332"/>
                </a:solidFill>
                <a:latin typeface="Calibri"/>
              </a:rPr>
              <a:t>At a tertiary centre,  </a:t>
            </a:r>
            <a:r>
              <a:rPr sz="1500" b="0" i="0">
                <a:solidFill>
                  <a:srgbClr val="1A2332"/>
                </a:solidFill>
                <a:latin typeface="Calibri"/>
              </a:rPr>
              <a:t>only a fraction of new cancer cases are formally reviewed at MDT — the rest are decided in single-specialty clinics.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A2332"/>
                </a:solidFill>
                <a:latin typeface="Calibri"/>
              </a:rPr>
              <a:t>Boards are constrained by  </a:t>
            </a:r>
            <a:r>
              <a:rPr sz="1500" b="0" i="0">
                <a:solidFill>
                  <a:srgbClr val="1A2332"/>
                </a:solidFill>
                <a:latin typeface="Calibri"/>
              </a:rPr>
              <a:t>clinician time, room scheduling, and sub-specialty availability (genetics, palliative, radiation oncology aren't always at the table).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A2332"/>
                </a:solidFill>
                <a:latin typeface="Calibri"/>
              </a:rPr>
              <a:t>Trainees rarely  </a:t>
            </a:r>
            <a:r>
              <a:rPr sz="1500" b="0" i="0">
                <a:solidFill>
                  <a:srgbClr val="1A2332"/>
                </a:solidFill>
                <a:latin typeface="Calibri"/>
              </a:rPr>
              <a:t>see the full reasoning chain across specialties — it's heard, not documented, and rarely revisited.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A2332"/>
                </a:solidFill>
                <a:latin typeface="Calibri"/>
              </a:rPr>
              <a:t>Yet NCCN, ESMO and the WHO position MDT review  </a:t>
            </a:r>
            <a:r>
              <a:rPr sz="1500" b="0" i="0">
                <a:solidFill>
                  <a:srgbClr val="1A2332"/>
                </a:solidFill>
                <a:latin typeface="Calibri"/>
              </a:rPr>
              <a:t>as the standard of care for almost every solid tumour.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A2332"/>
                </a:solidFill>
                <a:latin typeface="Calibri"/>
              </a:rPr>
              <a:t>The gap is not knowledge — it is throughput.  </a:t>
            </a:r>
            <a:r>
              <a:rPr sz="1500" b="0" i="0">
                <a:solidFill>
                  <a:srgbClr val="1A2332"/>
                </a:solidFill>
                <a:latin typeface="Calibri"/>
              </a:rPr>
              <a:t>An AI co-pilot can stage a deliberation in minutes, on every case, before the human MDT meets.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Sources: NCCN Guidelines (2025); ESMO Clinical Practice Guidelines; WHO Cancer Control Knowledge into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WHAT VTB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VTB stages a multidisciplinary deliberation in minutes, on any case.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17320"/>
            <a:ext cx="3576218" cy="43891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11901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i="0">
                <a:solidFill>
                  <a:srgbClr val="1A2332"/>
                </a:solidFill>
                <a:latin typeface="Calibri"/>
              </a:rPr>
              <a:t>Multi-agent debate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119018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7 AI oncology specialists + 3 meta-reviewers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5-phase Chain-of-Debate (gatekeeper → opinions → critique → rebuttal → consensus)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Powered by Claude Sonnet 4 with retrieval over NCCN/ESMO guidelines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417320"/>
            <a:ext cx="3576218" cy="43891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7738" y="1417320"/>
            <a:ext cx="73152" cy="4389120"/>
          </a:xfrm>
          <a:prstGeom prst="rect">
            <a:avLst/>
          </a:prstGeom>
          <a:solidFill>
            <a:srgbClr val="2F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2058" y="1691640"/>
            <a:ext cx="311901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i="0">
                <a:solidFill>
                  <a:srgbClr val="1A2332"/>
                </a:solidFill>
                <a:latin typeface="Calibri"/>
              </a:rPr>
              <a:t>Imaging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286000"/>
            <a:ext cx="3119018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MedGemma 27B for radiology reads (CXR, CT, MRI, mammography)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Modality-aware prompts with explicit confidence scores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Accepts DICOM and a phone-camera photograph of a printed film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417320"/>
            <a:ext cx="3576218" cy="43891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6836" y="1417320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1156" y="1691640"/>
            <a:ext cx="311901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i="0">
                <a:solidFill>
                  <a:srgbClr val="1A2332"/>
                </a:solidFill>
                <a:latin typeface="Calibri"/>
              </a:rPr>
              <a:t>Live, auditable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2286000"/>
            <a:ext cx="3119018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Server-Sent-Event stream — clinicians watch each agent reason in real time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Structured consensus with citations and recorded dissent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Open-source (MIT) and self-hostable behind a hospital firewall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Live: virtual-tumor-board-production.up.railway.app  ·  Code: github.com/inventcures/virtual-tumor-board (MIT).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Seven specialists make the call. Three meta-reviewers keep them honest.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CLINICAL SPECIALISTS  ·  7 agents, run in parallel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400800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Shalya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Surgical Oncology — resectability, surgical approach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Chikitsa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Medical Oncology — systemic therapy, sequencing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Kirann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Radiation Oncology — protocol, dose, fractionation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Chitran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Onco-Radiology — staging, response assessment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Marga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Pathology — histology, IHC, molecular markers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Anuvamsha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Genetics — germline &amp; somatic, hereditary syndromes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Shanti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   Palliative Care — symptom burden, goals of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417320"/>
            <a:ext cx="3870655" cy="4572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600200"/>
            <a:ext cx="332201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C53030"/>
                </a:solidFill>
                <a:latin typeface="Calibri"/>
              </a:rPr>
              <a:t>META-REVIEWERS  ·  applied after each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047695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Tark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
Scientific Critic — challenges evidence, demands citations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Dr. Samata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
Stewardship — equity, cost, antibiotic / chemo stewardship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1A2332"/>
                </a:solidFill>
                <a:latin typeface="Calibri"/>
              </a:rPr>
              <a:t>Principal Investigator</a:t>
            </a:r>
            <a:r>
              <a:rPr sz="1350" b="0" i="0">
                <a:solidFill>
                  <a:srgbClr val="1A2332"/>
                </a:solidFill>
                <a:latin typeface="Calibri"/>
              </a:rPr>
              <a:t>
Moderator — gatekeeps completeness, synthesises consensus, surfaces dissent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Source: packages/agents/src/specialists/index.ts  ·  All agents run on Claude Sonnet 4 (claude-sonnet-4-20250514) with tool-use for guideline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HOW A DELIBERATION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Specialists debate, critics push back, the moderator synthesises.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00200"/>
            <a:ext cx="164592" cy="7772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600200"/>
            <a:ext cx="10929823" cy="777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05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Calibri"/>
              </a:rPr>
              <a:t>Gatekeeper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764792"/>
            <a:ext cx="652241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PI checks the case is complete enough to deliberate.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64592" cy="7772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560320"/>
            <a:ext cx="10929823" cy="777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05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79192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Calibri"/>
              </a:rPr>
              <a:t>Initial opinions  (parallel)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24912"/>
            <a:ext cx="652241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All 7 specialists respond simultaneously. Each can call retrieval tools for guidelines.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64592" cy="77724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3520440"/>
            <a:ext cx="10929823" cy="777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1005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53030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639312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Calibri"/>
              </a:rPr>
              <a:t>Critique  (sequential)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85032"/>
            <a:ext cx="652241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Scientific Critic and Stewardship reviewer challenge the Round-1 plans.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164592" cy="7772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4480560"/>
            <a:ext cx="10929823" cy="777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1005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599432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Calibri"/>
              </a:rPr>
              <a:t>Round 2  —  rebuttal &amp;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645152"/>
            <a:ext cx="652241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PI moderates a focused debate where conflicts are reconciled.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40680"/>
            <a:ext cx="164592" cy="777240"/>
          </a:xfrm>
          <a:prstGeom prst="rect">
            <a:avLst/>
          </a:prstGeom>
          <a:solidFill>
            <a:srgbClr val="2F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" y="5440680"/>
            <a:ext cx="10929823" cy="777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605272"/>
            <a:ext cx="1005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F855D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59552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  <a:latin typeface="Calibri"/>
              </a:rPr>
              <a:t>Consensus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605272"/>
            <a:ext cx="652241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PI synthesises a structured recommendation, with citations and recorded dissent.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1">
                <a:solidFill>
                  <a:srgbClr val="2B6CB0"/>
                </a:solidFill>
                <a:latin typeface="Calibri"/>
              </a:rPr>
              <a:t>Live SSE stream throughout — clinicians watch the reasoning unfold, not just the verdict.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Source: packages/agents/src/orchestrator/index.ts (V7 spec, lines 68–152); apps/web/src/app/api/deliberate/stream/route.ts (SSE).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IMAGING — RADIOLOGY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Modality-aware reads with explicit confidence and target-lesion measurements.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00200"/>
            <a:ext cx="2636443" cy="21945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36443" cy="731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70683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</a:rPr>
              <a:t>Image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70683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DICOM, NIfTI, or a JPG/PNG photo of a printed film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3371" y="2606040"/>
            <a:ext cx="146304" cy="182880"/>
          </a:xfrm>
          <a:prstGeom prst="rightArrow">
            <a:avLst/>
          </a:prstGeom>
          <a:solidFill>
            <a:srgbClr val="6B7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7963" y="1600200"/>
            <a:ext cx="2636443" cy="21945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7963" y="1600200"/>
            <a:ext cx="2636443" cy="731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50843" y="1828800"/>
            <a:ext cx="2270683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</a:rPr>
              <a:t>Modality-specific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2377440"/>
            <a:ext cx="2270683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Different prompt template for CXR, CT, MRI, mammography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22695" y="2606040"/>
            <a:ext cx="146304" cy="182880"/>
          </a:xfrm>
          <a:prstGeom prst="rightArrow">
            <a:avLst/>
          </a:prstGeom>
          <a:solidFill>
            <a:srgbClr val="6B7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7287" y="1600200"/>
            <a:ext cx="2636443" cy="21945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7287" y="1600200"/>
            <a:ext cx="2636443" cy="731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0167" y="1828800"/>
            <a:ext cx="2270683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</a:rPr>
              <a:t>MedGemma 27B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377440"/>
            <a:ext cx="2270683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Google's medical foundation model, called via Vertex AI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42019" y="2606040"/>
            <a:ext cx="146304" cy="182880"/>
          </a:xfrm>
          <a:prstGeom prst="rightArrow">
            <a:avLst/>
          </a:prstGeom>
          <a:solidFill>
            <a:srgbClr val="6B7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611" y="1600200"/>
            <a:ext cx="2636443" cy="21945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611" y="1600200"/>
            <a:ext cx="2636443" cy="731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491" y="1828800"/>
            <a:ext cx="2270683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Calibri"/>
              </a:rPr>
              <a:t>Structured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491" y="2377440"/>
            <a:ext cx="2270683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Findings (location, severity), RECIST-style measurements (≥10 mm targets), confidence score (0.30–0.95), model attribution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69080"/>
            <a:ext cx="11094415" cy="5029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123944"/>
            <a:ext cx="1063721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1A2332"/>
                </a:solidFill>
                <a:latin typeface="Calibri"/>
              </a:rPr>
              <a:t>Three-tier fallback so a deliberation never stalls: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Vertex AI MedGemma  →  HuggingFace MedGemma Space  →  Gemini 2.0 Flash.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11094415" cy="50292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773168"/>
            <a:ext cx="1063721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C53030"/>
                </a:solidFill>
                <a:latin typeface="Calibri"/>
              </a:rPr>
              <a:t>Caveat.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MedGemma is a research model, not a regulated diagnostic device. Use as decision support; the radiologist remains the source of truth.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Source: apps/web/src/lib/medgemma/client.ts (lines 49–143, 564–650).  RECIST = Response Evaluation Criteria In Solid Tumours.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Works with what's already in radiology workflow — and with a phone.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21945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81912"/>
            <a:ext cx="23774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81912"/>
            <a:ext cx="30175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WHEN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581912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WHAT VTB DOES WITH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21945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DICOM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84832"/>
            <a:ext cx="23774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.dcm files or full study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84832"/>
            <a:ext cx="301752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CT, MRI, X-ray, PET, ultrasound, bone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84832"/>
            <a:ext cx="320040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Drag-and-drop the entire study; parsed in the browser using dicom-parser.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1094415" cy="9601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44952"/>
            <a:ext cx="21945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Phone 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44952"/>
            <a:ext cx="23774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JPEG / PNG via device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44952"/>
            <a:ext cx="301752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When PACS is not at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44952"/>
            <a:ext cx="320040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Photograph a printed film at the bedside, on a ward round, or in an outreach clinic.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21945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Gallery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05072"/>
            <a:ext cx="23774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JPEG / PNG from device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005072"/>
            <a:ext cx="301752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Prior scans the patient brought on a 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05072"/>
            <a:ext cx="320040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0" i="0">
                <a:solidFill>
                  <a:srgbClr val="1A2332"/>
                </a:solidFill>
                <a:latin typeface="Calibri"/>
              </a:rPr>
              <a:t>Useful when families bring outside imaging that never made it onto PACS.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1">
                <a:solidFill>
                  <a:srgbClr val="2B6CB0"/>
                </a:solidFill>
                <a:latin typeface="Calibri"/>
              </a:rPr>
              <a:t>Critical for ward rounds, peripheral OPDs, and outreach clinics where PACS access is limited.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Source: apps/web/src/components/my-imaging/DicomUploader.tsx; ImagingUploadPanel.tsx.  Imaging path does not accept PDFs.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A single Next.js app on Railway, talking to specialised model APIs.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63040"/>
            <a:ext cx="11094415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" cy="12344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27632"/>
            <a:ext cx="4038447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Next.js 15 + 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29968"/>
            <a:ext cx="4038447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Browser app — uploads, deliberation UI, DICOM parsing all client-side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447" y="1627632"/>
            <a:ext cx="4038447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447" y="2029968"/>
            <a:ext cx="4038447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SITE_ACCESS_TOKEN cookie gate — single shared token; no patient login layer yet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11094415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91440" cy="1234440"/>
          </a:xfrm>
          <a:prstGeom prst="rect">
            <a:avLst/>
          </a:prstGeom>
          <a:solidFill>
            <a:srgbClr val="2F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35808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F855D"/>
                </a:solidFill>
                <a:latin typeface="Calibri"/>
              </a:rPr>
              <a:t>APPLICATION — ON RAILWAY (NIXPACKS)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90672"/>
            <a:ext cx="263133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Next.js API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93008"/>
            <a:ext cx="2631338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REST endpoints, Server Actions, SSE stream for live deliberation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0338" y="3090672"/>
            <a:ext cx="263133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Agent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0338" y="3493008"/>
            <a:ext cx="2631338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5-phase Chain-of-Debate over 10 agents; tool-use loop for guideline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4556" y="3090672"/>
            <a:ext cx="263133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PostgreSQL (Railway)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4556" y="3493008"/>
            <a:ext cx="2631338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Analytics only — visitor IP, geolocation, feature usage. No patient data persisted.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11094415" cy="12344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91440" cy="12344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98848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EXTERNAL MODEL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553712"/>
            <a:ext cx="263133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Anthropic Claude Sonnet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956048"/>
            <a:ext cx="2631338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All 10 reasoning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0338" y="4553712"/>
            <a:ext cx="263133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Vertex AI MedGemma 27B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0338" y="4956048"/>
            <a:ext cx="2631338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Radiology reads (HF + Gemini fallback)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4556" y="4553712"/>
            <a:ext cx="263133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50" b="1" i="0">
                <a:solidFill>
                  <a:srgbClr val="1A2332"/>
                </a:solidFill>
                <a:latin typeface="Calibri"/>
              </a:rPr>
              <a:t>Gemini File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4556" y="4956048"/>
            <a:ext cx="2631338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50" b="0" i="0">
                <a:solidFill>
                  <a:srgbClr val="1A2332"/>
                </a:solidFill>
                <a:latin typeface="Calibri"/>
              </a:rPr>
              <a:t>RAG retrieval over NCCN, ESMO, ASTRO, ACR, CAP, SSO, ClinVar/CIViC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Source: railway.json; apps/web/src/middleware.ts.  Stack: Next.js 15, React 19, TailwindCSS, pnpm workspaces.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HOW CMC VELLORE COULD USE VTB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Three concrete entry points — none require new infrastructure.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63040"/>
            <a:ext cx="3576218" cy="42976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76218" cy="91440"/>
          </a:xfrm>
          <a:prstGeom prst="rect">
            <a:avLst/>
          </a:prstGeom>
          <a:solidFill>
            <a:srgbClr val="2F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1901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1A2332"/>
                </a:solidFill>
                <a:latin typeface="Calibri"/>
              </a:rPr>
              <a:t>A.  Pre-board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19018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6B7785"/>
                </a:solidFill>
                <a:latin typeface="Calibri"/>
              </a:rPr>
              <a:t>Who &amp; when.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Junior registrar runs VTB on each case the night before the weekly MDT.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3119018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 dirty="0">
                <a:solidFill>
                  <a:srgbClr val="6B7785"/>
                </a:solidFill>
                <a:latin typeface="Calibri"/>
              </a:rPr>
              <a:t>What VTB adds.  </a:t>
            </a:r>
            <a:r>
              <a:rPr sz="1250" b="0" i="0" dirty="0">
                <a:solidFill>
                  <a:srgbClr val="1A2332"/>
                </a:solidFill>
                <a:latin typeface="Calibri"/>
              </a:rPr>
              <a:t>Brings the structured consensus, the dissenting opinions, and the retrieved guideline citations to the in-person board. The human MDT spends its time on disagreement, not recap.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463040"/>
            <a:ext cx="3576218" cy="42976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7738" y="1463040"/>
            <a:ext cx="3576218" cy="914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338" y="1737360"/>
            <a:ext cx="311901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1A2332"/>
                </a:solidFill>
                <a:latin typeface="Calibri"/>
              </a:rPr>
              <a:t>B.  Outreach clinic / ward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2423160"/>
            <a:ext cx="3119018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6B7785"/>
                </a:solidFill>
                <a:latin typeface="Calibri"/>
              </a:rPr>
              <a:t>Who &amp; when.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Senior takes a phone photograph of a printed scan a referring centre sent with the patient.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3794760"/>
            <a:ext cx="3119018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6B7785"/>
                </a:solidFill>
                <a:latin typeface="Calibri"/>
              </a:rPr>
              <a:t>What VTB adds.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Within minutes, the system returns a radiology read, a tentative stage, and a treatment-plan sketch — enough to triage the patient that visit instead of asking them to return.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463040"/>
            <a:ext cx="3576218" cy="42976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6836" y="1463040"/>
            <a:ext cx="3576218" cy="914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5436" y="1737360"/>
            <a:ext cx="311901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50" b="1" i="0">
                <a:solidFill>
                  <a:srgbClr val="1A2332"/>
                </a:solidFill>
                <a:latin typeface="Calibri"/>
              </a:rPr>
              <a:t>C.  Trainee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423160"/>
            <a:ext cx="3119018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6B7785"/>
                </a:solidFill>
                <a:latin typeface="Calibri"/>
              </a:rPr>
              <a:t>Who &amp; when.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Residents watch the live SSE stream of agents debating an archived case between weekly boards.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3794760"/>
            <a:ext cx="3119018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0">
                <a:solidFill>
                  <a:srgbClr val="6B7785"/>
                </a:solidFill>
                <a:latin typeface="Calibri"/>
              </a:rPr>
              <a:t>What VTB adds.  </a:t>
            </a:r>
            <a:r>
              <a:rPr sz="1250" b="0" i="0">
                <a:solidFill>
                  <a:srgbClr val="1A2332"/>
                </a:solidFill>
                <a:latin typeface="Calibri"/>
              </a:rPr>
              <a:t>Builds MDT intuition: how does a medical oncologist push back against a surgical oncologist? Where does the stewardship reviewer object? Visible reasoning, not just a verdict.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50" b="1" i="1">
                <a:solidFill>
                  <a:srgbClr val="2F855D"/>
                </a:solidFill>
                <a:latin typeface="Calibri"/>
              </a:rPr>
              <a:t>In every workflow, VTB augments the human MDT — it never replaces 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These workflows are illustrative — each would need a small pilot at CMC Vellore before any wider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SAFETY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A decision-support tool — not a diagnostic device, not a regulatory product.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63040"/>
            <a:ext cx="5364327" cy="45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" cy="4572000"/>
          </a:xfrm>
          <a:prstGeom prst="rect">
            <a:avLst/>
          </a:prstGeom>
          <a:solidFill>
            <a:srgbClr val="2F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07127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855D"/>
                </a:solidFill>
                <a:latin typeface="Calibri"/>
              </a:rPr>
              <a:t>WHAT VTB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907127" cy="3794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Decision support.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Every recommendation comes with citations, dissenting agent opinions, and an explicit confidence on imaging reads.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Stateless on patient data.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Case text and images are sent to the model APIs at request time. Nothing about an individual patient is stored in the application database.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Auditable.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The full SSE transcript can be saved as a record of how a recommendation was reached.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Open-source (MIT).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The institution can read the code, change it, or self-host it behind the hospital firewall.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463040"/>
            <a:ext cx="5364327" cy="45720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8727" y="1463040"/>
            <a:ext cx="91440" cy="457200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1645920"/>
            <a:ext cx="4907127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C53030"/>
                </a:solidFill>
                <a:latin typeface="Calibri"/>
              </a:rPr>
              <a:t>WHAT VTB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148840"/>
            <a:ext cx="4907127" cy="3794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Not a diagnostic device.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No CDSCO, FDA, or CE clearance. Research and education use only.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Not a substitute for the radiologist or pathologist.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MedGemma reads and OncoSeg masks must be reviewed before any clinical use.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Not a substitute for the human MDT.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It accelerates and structures preparation. The clinical decision still happens in the room.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A2332"/>
                </a:solidFill>
                <a:latin typeface="Calibri"/>
              </a:rPr>
              <a:t>Not yet hardened for PHI.  </a:t>
            </a:r>
            <a:r>
              <a:rPr sz="1300" b="0" i="0">
                <a:solidFill>
                  <a:srgbClr val="1A2332"/>
                </a:solidFill>
                <a:latin typeface="Calibri"/>
              </a:rPr>
              <a:t>Today's hosted instance runs on Railway with US-region model APIs. Any institutional rollout would need a self-hosted, privacy-reviewed deployment.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PHI = Protected Health Information.  CDSCO = Central Drugs Standard Control Organisation (India).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LIMITATIONS, ROADMAP,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</a:rPr>
              <a:t>Honest about what's missing — and a small pilot is the obvious next step.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463040"/>
            <a:ext cx="3576218" cy="4114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76218" cy="73152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311901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C53030"/>
                </a:solidFill>
                <a:latin typeface="Calibri"/>
              </a:rPr>
              <a:t>LIMITATIONS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119018" cy="3383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English-only deliberations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30–90 s latency per deliberation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No EHR or PACS integration yet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No structured outcome capture for audit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Not yet approved for clinical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463040"/>
            <a:ext cx="3576218" cy="4114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7738" y="1463040"/>
            <a:ext cx="3576218" cy="7315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6338" y="1645920"/>
            <a:ext cx="311901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2057400"/>
            <a:ext cx="3119018" cy="3383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PACS / DICOM-Web ingest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Self-hosted, on-prem deployment for hospitals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Vernacular language support (Tamil, Hindi)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Outcome capture, so we can audit recommendations against follow-up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Site-specific guideline overlays (CMC, NCG India)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1463040"/>
            <a:ext cx="3576218" cy="4114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6836" y="1463040"/>
            <a:ext cx="3576218" cy="73152"/>
          </a:xfrm>
          <a:prstGeom prst="rect">
            <a:avLst/>
          </a:prstGeom>
          <a:solidFill>
            <a:srgbClr val="2F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645920"/>
            <a:ext cx="3119018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F855D"/>
                </a:solidFill>
                <a:latin typeface="Calibri"/>
              </a:rPr>
              <a:t>TRY IT / TALK TO 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57400"/>
            <a:ext cx="3119018" cy="3383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Live demo:  virtual-tumor-board-production.up.railway.app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Code (MIT):  github.com/inventcures/virtual-tumor-board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Sample report:  v18 ovarian tumour-board PDF in /sample_ouputs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Contact:  acgt0101@gmail.com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Proposed next step:  a 10-case retrospective pilot at CMC, blinded against the in-person MDT decision.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9525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1">
                <a:solidFill>
                  <a:srgbClr val="6B7785"/>
                </a:solidFill>
                <a:latin typeface="Calibri"/>
              </a:rPr>
              <a:t>Slides follow Saloni Dattani's data-visualisation guide (scientificdiscovery.dev/p/salonis-guide-to-data-visualization).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2038</Words>
  <Application>Microsoft Macintosh PowerPoint</Application>
  <PresentationFormat>Widescreen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makani -- Ashoka University</cp:lastModifiedBy>
  <cp:revision>2</cp:revision>
  <dcterms:created xsi:type="dcterms:W3CDTF">2013-01-27T09:14:16Z</dcterms:created>
  <dcterms:modified xsi:type="dcterms:W3CDTF">2026-05-08T07:40:07Z</dcterms:modified>
  <cp:category/>
</cp:coreProperties>
</file>