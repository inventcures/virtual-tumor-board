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2431" y="1220837"/>
            <a:ext cx="669898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Tumor Board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301901" y="2420987"/>
            <a:ext cx="2539901" cy="5075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22431" y="2852738"/>
            <a:ext cx="66989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200" dirty="0">
                <a:solidFill>
                  <a:srgbClr val="E8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expert cancer care to every patient in India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22431" y="3684538"/>
            <a:ext cx="66989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for Blume Ventures • February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1015901" cy="634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825252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34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Started With One Report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2000" y="1599902"/>
            <a:ext cx="7620000" cy="138142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0100" y="1599902"/>
            <a:ext cx="0" cy="1381423"/>
          </a:xfrm>
          <a:prstGeom prst="line">
            <a:avLst/>
          </a:prstGeom>
          <a:noFill/>
          <a:ln w="76200">
            <a:solidFill>
              <a:srgbClr val="3A9E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5650" y="1853803"/>
            <a:ext cx="704707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"Sclerotic change in thoracic vertebra... cannot rule out metastatic disease."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5650" y="2290614"/>
            <a:ext cx="704707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6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Radiology report, tier-2 city hospital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298775"/>
            <a:ext cx="7772400" cy="121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meant the difference between 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II and Stage IV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Between surgery and systemic therapy.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nearest tumor board was 300km away, with a 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waitlist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82501"/>
            <a:ext cx="1015901" cy="634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799802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36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Access Crisis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1628477"/>
            <a:ext cx="2370683" cy="2052042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65150" y="1831628"/>
            <a:ext cx="200367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65150" y="2469803"/>
            <a:ext cx="2003670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Indian cancer patients lack tumor board 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6584" y="1628477"/>
            <a:ext cx="2370832" cy="2052042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89734" y="1831628"/>
            <a:ext cx="2003822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8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89734" y="2469803"/>
            <a:ext cx="2003822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cancer cases annually in India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11317" y="1628477"/>
            <a:ext cx="2370683" cy="2052042"/>
          </a:xfrm>
          <a:prstGeom prst="roundRect">
            <a:avLst>
              <a:gd name="adj" fmla="val 4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4467" y="1831628"/>
            <a:ext cx="200367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8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</a:t>
            </a:r>
            <a:endParaRPr lang="en-US" sz="3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380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4467" y="3031778"/>
            <a:ext cx="2003670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treatment planning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2000" y="3934420"/>
            <a:ext cx="7620000" cy="939701"/>
          </a:xfrm>
          <a:prstGeom prst="roundRect">
            <a:avLst>
              <a:gd name="adj" fmla="val 10812"/>
            </a:avLst>
          </a:prstGeom>
          <a:solidFill>
            <a:srgbClr val="1A5E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15901" y="4137571"/>
            <a:ext cx="725444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specialist shortage in tier-2/tier-3 cities means most patients never get the expert review that could change their outcomes.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7950"/>
            <a:ext cx="1015901" cy="634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825252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1552277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22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virtual tumor board that replicates the multidisciplinary consensus process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2079278"/>
            <a:ext cx="2854077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347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5813" y="2079278"/>
            <a:ext cx="0" cy="453926"/>
          </a:xfrm>
          <a:prstGeom prst="line">
            <a:avLst/>
          </a:prstGeom>
          <a:noFill/>
          <a:ln w="47625">
            <a:solidFill>
              <a:srgbClr val="3A9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326" y="2206228"/>
            <a:ext cx="2500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Oncologist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3027" y="2079278"/>
            <a:ext cx="2854077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347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766840" y="2079278"/>
            <a:ext cx="0" cy="453926"/>
          </a:xfrm>
          <a:prstGeom prst="line">
            <a:avLst/>
          </a:prstGeom>
          <a:noFill/>
          <a:ln w="47625">
            <a:solidFill>
              <a:srgbClr val="3A9E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68353" y="2206228"/>
            <a:ext cx="2500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Oncologist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2000" y="2660154"/>
            <a:ext cx="2854077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347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85813" y="2660154"/>
            <a:ext cx="0" cy="453926"/>
          </a:xfrm>
          <a:prstGeom prst="line">
            <a:avLst/>
          </a:prstGeom>
          <a:noFill/>
          <a:ln w="47625">
            <a:solidFill>
              <a:srgbClr val="3A9E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326" y="2787104"/>
            <a:ext cx="2500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Oncologist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3027" y="2660154"/>
            <a:ext cx="2854077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347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766840" y="2660154"/>
            <a:ext cx="0" cy="453926"/>
          </a:xfrm>
          <a:prstGeom prst="line">
            <a:avLst/>
          </a:prstGeom>
          <a:noFill/>
          <a:ln w="47625">
            <a:solidFill>
              <a:srgbClr val="3A9E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8353" y="2787104"/>
            <a:ext cx="2500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Radiologist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2000" y="3241030"/>
            <a:ext cx="2854077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347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85813" y="3241030"/>
            <a:ext cx="0" cy="453926"/>
          </a:xfrm>
          <a:prstGeom prst="line">
            <a:avLst/>
          </a:prstGeom>
          <a:noFill/>
          <a:ln w="47625">
            <a:solidFill>
              <a:srgbClr val="3A9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326" y="3367980"/>
            <a:ext cx="2500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Pathologist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3027" y="3241030"/>
            <a:ext cx="2854077" cy="453926"/>
          </a:xfrm>
          <a:prstGeom prst="roundRect">
            <a:avLst>
              <a:gd name="adj" fmla="val 167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3470" dir="27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766840" y="3241030"/>
            <a:ext cx="0" cy="453926"/>
          </a:xfrm>
          <a:prstGeom prst="line">
            <a:avLst/>
          </a:prstGeom>
          <a:noFill/>
          <a:ln w="47625">
            <a:solidFill>
              <a:srgbClr val="3A9E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68353" y="3367980"/>
            <a:ext cx="2500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 (Synthesis)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2000" y="3948857"/>
            <a:ext cx="7620000" cy="844451"/>
          </a:xfrm>
          <a:prstGeom prst="roundRect">
            <a:avLst>
              <a:gd name="adj" fmla="val 12032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70737" y="4152007"/>
            <a:ext cx="72025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specialists deliberating together → One comprehensive, evidence-based recommendation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82501"/>
            <a:ext cx="1015901" cy="634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749052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1501527"/>
            <a:ext cx="7620000" cy="1075432"/>
          </a:xfrm>
          <a:prstGeom prst="roundRect">
            <a:avLst>
              <a:gd name="adj" fmla="val 94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0100" y="1501527"/>
            <a:ext cx="0" cy="1075432"/>
          </a:xfrm>
          <a:prstGeom prst="line">
            <a:avLst/>
          </a:prstGeom>
          <a:noFill/>
          <a:ln w="76200">
            <a:solidFill>
              <a:srgbClr val="3A9E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2101" y="1641128"/>
            <a:ext cx="71767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systems proven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2101" y="1974503"/>
            <a:ext cx="7176718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research validates multi-agent deliberation for medical decision-making with </a:t>
            </a:r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accuracy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capturing critical clinical information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2000" y="2729359"/>
            <a:ext cx="7620000" cy="1075432"/>
          </a:xfrm>
          <a:prstGeom prst="roundRect">
            <a:avLst>
              <a:gd name="adj" fmla="val 94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00100" y="2729359"/>
            <a:ext cx="0" cy="1075432"/>
          </a:xfrm>
          <a:prstGeom prst="line">
            <a:avLst/>
          </a:prstGeom>
          <a:noFill/>
          <a:ln w="76200">
            <a:solidFill>
              <a:srgbClr val="3A9E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2101" y="2868960"/>
            <a:ext cx="71767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ready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2101" y="3202335"/>
            <a:ext cx="7176718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health records spreading across tier-2/3 hospitals; </a:t>
            </a:r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4G/5G connectivity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reaching rural areas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2000" y="3957191"/>
            <a:ext cx="7620000" cy="844004"/>
          </a:xfrm>
          <a:prstGeom prst="roundRect">
            <a:avLst>
              <a:gd name="adj" fmla="val 12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00100" y="3957191"/>
            <a:ext cx="0" cy="844004"/>
          </a:xfrm>
          <a:prstGeom prst="line">
            <a:avLst/>
          </a:prstGeom>
          <a:noFill/>
          <a:ln w="76200">
            <a:solidFill>
              <a:srgbClr val="3A9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2101" y="4096792"/>
            <a:ext cx="717671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Post-COVID acceptance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2101" y="4430167"/>
            <a:ext cx="7176718" cy="23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and doctors comfortable with </a:t>
            </a:r>
            <a:pPr algn="l" indent="0" marL="0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telehealth</a:t>
            </a:r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remote consultations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82501"/>
            <a:ext cx="1015901" cy="634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774502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34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2000" y="1549152"/>
            <a:ext cx="7620000" cy="965150"/>
          </a:xfrm>
          <a:prstGeom prst="roundRect">
            <a:avLst>
              <a:gd name="adj" fmla="val 105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5901" y="1701552"/>
            <a:ext cx="660350" cy="660350"/>
          </a:xfrm>
          <a:prstGeom prst="roundRect">
            <a:avLst>
              <a:gd name="adj" fmla="val 138472"/>
            </a:avLst>
          </a:prstGeom>
          <a:solidFill>
            <a:srgbClr val="3A9E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55502" y="1850678"/>
            <a:ext cx="38862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04851" y="1773734"/>
            <a:ext cx="63477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Weeks → Minutes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04851" y="2075259"/>
            <a:ext cx="6347713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planning compressed from 3-4 weeks to same-day results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2000" y="2666702"/>
            <a:ext cx="7620000" cy="965150"/>
          </a:xfrm>
          <a:prstGeom prst="roundRect">
            <a:avLst>
              <a:gd name="adj" fmla="val 105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5901" y="2819102"/>
            <a:ext cx="660350" cy="660350"/>
          </a:xfrm>
          <a:prstGeom prst="roundRect">
            <a:avLst>
              <a:gd name="adj" fmla="val 138472"/>
            </a:avLst>
          </a:prstGeom>
          <a:solidFill>
            <a:srgbClr val="3A9E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5502" y="2968228"/>
            <a:ext cx="38862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04851" y="2891284"/>
            <a:ext cx="63477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Tier-2/3 + Rural Reach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4851" y="3192810"/>
            <a:ext cx="6347713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Expert-level recommendations without geographic barriers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2000" y="3784253"/>
            <a:ext cx="7620000" cy="1035248"/>
          </a:xfrm>
          <a:prstGeom prst="roundRect">
            <a:avLst>
              <a:gd name="adj" fmla="val 9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26941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15901" y="3971627"/>
            <a:ext cx="660350" cy="660350"/>
          </a:xfrm>
          <a:prstGeom prst="roundRect">
            <a:avLst>
              <a:gd name="adj" fmla="val 138472"/>
            </a:avLst>
          </a:prstGeom>
          <a:solidFill>
            <a:srgbClr val="3A9E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17414" y="4120753"/>
            <a:ext cx="26231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904851" y="3936653"/>
            <a:ext cx="63477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Quality: Evidence-Aligned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04851" y="4238179"/>
            <a:ext cx="6347713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recommendations with Indian context: drug availability, costs, insurance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82501"/>
            <a:ext cx="1015901" cy="63401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799802"/>
            <a:ext cx="777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34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2000" y="1676102"/>
            <a:ext cx="34329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Platform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1977628"/>
            <a:ext cx="3432911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system deployed and accessible to healthcare providers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2000" y="2669084"/>
            <a:ext cx="34329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Analytics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2970609"/>
            <a:ext cx="3432911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tracking of deliberations, imaging analysis, and geographic reach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2000" y="3662065"/>
            <a:ext cx="34329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Integration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2000" y="3963591"/>
            <a:ext cx="3432911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text - DICOM support, phone-captured scans, 3D tumor segmentation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08599" y="1676102"/>
            <a:ext cx="3873401" cy="3154263"/>
          </a:xfrm>
          <a:prstGeom prst="roundRect">
            <a:avLst>
              <a:gd name="adj" fmla="val 32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0" y="1879253"/>
            <a:ext cx="34329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600" b="1" dirty="0">
                <a:solidFill>
                  <a:srgbClr val="1A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Features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0" y="2371279"/>
            <a:ext cx="3365599" cy="2103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5-agent deliberation system</a:t>
            </a:r>
            <a:endParaRPr lang="en-US" sz="1400" dirty="0"/>
          </a:p>
          <a:p>
            <a:pPr algn="l" marL="342900" indent="-3429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 analysis (CT/MRI/X-ray)</a:t>
            </a:r>
            <a:endParaRPr lang="en-US" sz="1400" dirty="0"/>
          </a:p>
          <a:p>
            <a:pPr algn="l" marL="342900" indent="-3429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DICOM viewer with longitudinal support</a:t>
            </a:r>
            <a:endParaRPr lang="en-US" sz="1400" dirty="0"/>
          </a:p>
          <a:p>
            <a:pPr algn="l" marL="342900" indent="-3429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consensus synthesis</a:t>
            </a:r>
            <a:endParaRPr lang="en-US" sz="1400" dirty="0"/>
          </a:p>
          <a:p>
            <a:pPr algn="l" marL="342900" indent="-342900">
              <a:lnSpc>
                <a:spcPts val="196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analytics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97384"/>
            <a:ext cx="7772400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60"/>
              </a:lnSpc>
              <a:spcAft>
                <a:spcPts val="35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expert cancer care a </a:t>
            </a:r>
            <a:pPr algn="ctr" indent="0" marL="0">
              <a:lnSpc>
                <a:spcPts val="5460"/>
              </a:lnSpc>
              <a:spcAft>
                <a:spcPts val="3500"/>
              </a:spcAft>
              <a:buNone/>
            </a:pPr>
            <a:r>
              <a:rPr lang="en-US" sz="4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</a:t>
            </a:r>
            <a:pPr algn="ctr" indent="0" marL="0">
              <a:lnSpc>
                <a:spcPts val="5460"/>
              </a:lnSpc>
              <a:spcAft>
                <a:spcPts val="35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privilege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85800" y="2328565"/>
            <a:ext cx="7772400" cy="1066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Aft>
                <a:spcPts val="4500"/>
              </a:spcAft>
              <a:buNone/>
            </a:pPr>
            <a:r>
              <a:rPr lang="en-US" sz="2000" dirty="0">
                <a:solidFill>
                  <a:srgbClr val="A8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patient in India deserves access to tumor board-level expertise.</a:t>
            </a:r>
            <a:endParaRPr lang="en-US" sz="2000" dirty="0"/>
          </a:p>
          <a:p>
            <a:pPr algn="ctr" indent="0" marL="0">
              <a:lnSpc>
                <a:spcPts val="2800"/>
              </a:lnSpc>
              <a:spcAft>
                <a:spcPts val="4500"/>
              </a:spcAft>
              <a:buNone/>
            </a:pPr>
            <a:r>
              <a:rPr lang="en-US" sz="2000" dirty="0">
                <a:solidFill>
                  <a:srgbClr val="A8D5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We're building the infrastructure to make that happen.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464123" y="3966716"/>
            <a:ext cx="2215753" cy="679252"/>
          </a:xfrm>
          <a:prstGeom prst="roundRect">
            <a:avLst>
              <a:gd name="adj" fmla="val 14958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60075" y="4144417"/>
            <a:ext cx="12238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Tumor Board - Blume Ventures Pitch</dc:title>
  <dc:subject>Democratizing Expert Cancer Care in India</dc:subject>
  <dc:creator>Virtual Tumor Board</dc:creator>
  <cp:lastModifiedBy>Virtual Tumor Board</cp:lastModifiedBy>
  <cp:revision>1</cp:revision>
  <dcterms:created xsi:type="dcterms:W3CDTF">2026-02-17T00:03:23Z</dcterms:created>
  <dcterms:modified xsi:type="dcterms:W3CDTF">2026-02-17T00:03:23Z</dcterms:modified>
</cp:coreProperties>
</file>